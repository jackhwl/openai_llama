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Daily % Change  —  AAPL vs SPY vs QQQ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% Change</c:v>
                </c:pt>
              </c:strCache>
            </c:strRef>
          </c:tx>
          <c:spPr>
            <a:solidFill>
              <a:srgbClr val="1E8E4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6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AAPL</c:v>
                  </c:pt>
                  <c:pt idx="1">
                    <c:v>SPY</c:v>
                  </c:pt>
                  <c:pt idx="2">
                    <c:v>QQQ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3.53</c:v>
                </c:pt>
                <c:pt idx="1">
                  <c:v>0.36</c:v>
                </c:pt>
                <c:pt idx="2">
                  <c:v>0.29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6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6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D9DE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AAPL is a core holding — this brief covers today's read across price, analyst, social, and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AAPL up 3.53% vs SPY +0.36% and QQQ +0.29% — outperforming the broad tape by ~10x. MTD +15.2% is on pace for best month in nearly 4 years. Watch: earnings gap risk on 7/30 given the run-up.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 consensus (60/34/6). Recent action skewed positive — MS and Baird raised PTs, HSBC bullish. KGI downgrade is the notable dissent. Average PTs still $311–$323, trailing $333.80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Stocktwits bullish, chatter +242% WoW. Reddit 61 — neutral-positive. Retail narrative: China AI approval + safe-haven framing dominates. WWDC Siri concern still present but muted.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 tape lopsided positive. China AI approval is the key driver. EU DMA loss and China developer complaint are the two negatives. Earnings 7/30 is the near-term binary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Bullish tilt supported by China AI approval, product momentum, retail flow, and PT catch-up. Balanced against multiple risk, regulatory overhang, and post-earnings gap risk 4 trading days out. Core position stays; new adds better after 7/30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0"/>
            <a:ext cx="73152" cy="822960"/>
          </a:xfrm>
          <a:prstGeom prst="rect">
            <a:avLst/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 ·  AAPL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(AAPL) Monitor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performance, sentiment, and news read-through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0" y="52120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41B4A"/>
          </a:solidFill>
          <a:ln w="6350">
            <a:solidFill>
              <a:srgbClr val="5A6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</a:t>
            </a:r>
            <a:endParaRPr lang="en-US" sz="1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July 26, 2026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E9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snapshot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investment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AAPL is outrunning the tape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$333.80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+$11.36   ·   +3.53%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$4.89T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4480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(TTM)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40.3x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4480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5532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in ~4 years  ·  #2 in Mag 7 for July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0" y="146304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669280" y="562356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6350">
            <a:solidFill>
              <a:srgbClr val="D9DE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5715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5715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$740.83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0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+0.36%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823960" y="562356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6350">
            <a:solidFill>
              <a:srgbClr val="D9DE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61120" y="5715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738360" y="5715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$693.94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27080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Monitor  ·  2026-07-26  ·  Pre-market snapshot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SENTIMENT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consensus — sell-side is catching up, not leading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4F5EC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RATING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8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Buy  ·  34% Hold  ·  6% Sell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analysts tracked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 w="12700">
            <a:solidFill>
              <a:srgbClr val="D9D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avg (Wall St.)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42976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$311.05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avg (55 analysts)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$322.71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 (Public)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5029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$315.00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5394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$333.80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rating actions (last 30 days)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87452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6350">
            <a:solidFill>
              <a:srgbClr val="D9D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093976"/>
            <a:ext cx="256032" cy="256032"/>
          </a:xfrm>
          <a:prstGeom prst="ellipse">
            <a:avLst/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raised to $364 (from $360)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6350">
            <a:solidFill>
              <a:srgbClr val="D9DE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871216"/>
            <a:ext cx="256032" cy="256032"/>
          </a:xfrm>
          <a:prstGeom prst="ellipse">
            <a:avLst/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raised to $330 (from $310)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2900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6350">
            <a:solidFill>
              <a:srgbClr val="D9DE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648456"/>
            <a:ext cx="256032" cy="256032"/>
          </a:xfrm>
          <a:prstGeom prst="ellipse">
            <a:avLst/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502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Reiterated bullish  ·  ~+10% upside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20624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6350">
            <a:solidFill>
              <a:srgbClr val="D9DE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442569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279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KGI Securities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Downgraded to Hold from Outperform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66960" y="4389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521208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52120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has run past most PTs — expect a wave of upward revisions if 7/30 print is clean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Monitor  ·  2026-07-26  ·  Pre-market snapshot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RETAIL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Bullish tape — retail calls it a 'safe haven'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E4F5EC"/>
          </a:solidFill>
          <a:ln w="9525">
            <a:solidFill>
              <a:srgbClr val="1E8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STOCKTWITS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Bullish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climbing WoW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E4F5EC"/>
          </a:solidFill>
          <a:ln w="9525">
            <a:solidFill>
              <a:srgbClr val="1E8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CHATTER VOLUME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+242%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 on Stocktwits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FDF3DC"/>
          </a:solidFill>
          <a:ln w="9525">
            <a:solidFill>
              <a:srgbClr val="B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/ 100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Neutral-positive  ·  ~188 mentions/day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463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are actually saying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19476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874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AI approval euphoria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9320" y="22402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greenlight for Apple Intelligence removes the largest overhang — the primary driver of this week's leg up.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9535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880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'Safe haven' framing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89320" y="32461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positioning AAPL as a defensive Mag-7 name amid broader tech chop into earnings.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39593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886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hikes = margin tailwind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9320" y="42519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SKU pricing actions cited as evidence Apple can pass component cost pressure through.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49651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 Siri concern fading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8932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firm Siri AI ship-date is a lingering worry — but now overshadowed by the China rollout narrative.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Monitor  ·  2026-07-26  ·  Pre-market snapshot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 ·  LAST 24-72H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flow dominates — 5 up, 2 down, 2 neutral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(CAC) approves Apple Intelligence — biggest overhang removed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2396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424160" y="158191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4F5EC"/>
          </a:solidFill>
          <a:ln w="6350">
            <a:solidFill>
              <a:srgbClr val="1E8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0" y="1581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hits fresh record — HSBC sees +10% further upside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239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424160" y="213055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4F5EC"/>
          </a:solidFill>
          <a:ln w="6350">
            <a:solidFill>
              <a:srgbClr val="1E8E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0" y="2130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60604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 raises PT to $364 from $360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2396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424160" y="267919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4F5EC"/>
          </a:solidFill>
          <a:ln w="6350">
            <a:solidFill>
              <a:srgbClr val="1E8E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0" y="26791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15468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and US DOJ in early antitrust settlement talks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424160" y="322783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4F5EC"/>
          </a:solidFill>
          <a:ln w="6350">
            <a:solidFill>
              <a:srgbClr val="1E8E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32278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11247120" cy="502920"/>
          </a:xfrm>
          <a:prstGeom prst="rect">
            <a:avLst/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70332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17 demand strong; late-June SKU price hikes could lift margin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2396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424160" y="3776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4F5EC"/>
          </a:solidFill>
          <a:ln w="6350">
            <a:solidFill>
              <a:srgbClr val="1E8E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3776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251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42519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+14% YoY modeled, but App Store growth cooled to ~3.2%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2396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24160" y="432511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DF3DC"/>
          </a:solidFill>
          <a:ln w="6350">
            <a:solidFill>
              <a:srgbClr val="B87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0" y="4325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800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480060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loses EU General Court challenge — App Store stays in DMA scope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23960" y="4800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424160" y="487375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9E4E1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0" y="4873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349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06-23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17320" y="534924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China iOS developers file App Store antitrust complaint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23960" y="5349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424160" y="542239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9E4E1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0" y="5422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0350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6035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057400" y="60350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2026-07-30  ·  Q3 FY26 earnings — Tim Cook's final call  ·  EPS $1.93 / Rev $110.75B consensus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Monitor  ·  2026-07-26  ·  Pre-market snapshot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BULLISH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earnings-week caution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5532120" cy="2743200"/>
          </a:xfrm>
          <a:prstGeom prst="roundRect">
            <a:avLst>
              <a:gd name="adj" fmla="val 3333"/>
            </a:avLst>
          </a:prstGeom>
          <a:solidFill>
            <a:srgbClr val="141B4A"/>
          </a:solidFill>
          <a:ln w="6350">
            <a:solidFill>
              <a:srgbClr val="5A6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BULLISH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AI approval clears the largest overhang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17 demand + price hikes = margin tailwind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Sell-side PTs still trail spot — revisions ahead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flow and Mag-7 leadership aligned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/ QQQ tape supportive — no macro shock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880360"/>
            <a:ext cx="5532120" cy="2743200"/>
          </a:xfrm>
          <a:prstGeom prst="roundRect">
            <a:avLst>
              <a:gd name="adj" fmla="val 3333"/>
            </a:avLst>
          </a:prstGeom>
          <a:solidFill>
            <a:srgbClr val="141B4A"/>
          </a:solidFill>
          <a:ln w="6350">
            <a:solidFill>
              <a:srgbClr val="5A6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33832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~40x leaves little room for a soft guide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growth deceleration (3.2% vs 9.8%)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DMA loss + China developer complaint linger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MTD run-up creates asymmetric gap risk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Cook-to-Ternus handoff tone on the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1E8E4F"/>
          </a:solidFill>
          <a:ln w="12700">
            <a:solidFill>
              <a:srgbClr val="1E8E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852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CATALYST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58521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 earnings  ·  July 30, 2026  ·  Position sized for post-print gap in either direction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Monitor  ·  2026-07-26  ·  Pre-market snapshot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discussion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AAPL Monitor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(AAPL) Monitor</dc:title>
  <dc:subject>PptxGenJS Presentation</dc:subject>
  <dc:creator>PptxGenJS</dc:creator>
  <cp:lastModifiedBy>PptxGenJS</cp:lastModifiedBy>
  <cp:revision>1</cp:revision>
  <dcterms:created xsi:type="dcterms:W3CDTF">2026-07-26T15:10:25Z</dcterms:created>
  <dcterms:modified xsi:type="dcterms:W3CDTF">2026-07-26T15:10:25Z</dcterms:modified>
</cp:coreProperties>
</file>